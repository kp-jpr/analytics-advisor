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54864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074920"/>
            <a:ext cx="12191695" cy="109728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09728" tIns="73152" bIns="54864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Calibri"/>
              </a:rPr>
              <a:t>Analytics Advisor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880360"/>
            <a:ext cx="10058400" cy="1463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CADCFC"/>
                </a:solidFill>
                <a:latin typeface="Calibri"/>
              </a:rPr>
              <a:t>Technical architecture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ADCFC"/>
                </a:solidFill>
                <a:latin typeface="Calibri"/>
              </a:rPr>
              <a:t>Two data planes, query routing, and who can reach each part</a:t>
            </a:r>
          </a:p>
          <a:p>
            <a:pPr algn="l">
              <a:spcAft>
                <a:spcPts val="400"/>
              </a:spcAft>
            </a:pPr>
            <a:r>
              <a:rPr sz="2000" b="0">
                <a:solidFill>
                  <a:srgbClr val="CADCFC"/>
                </a:solidFill>
                <a:latin typeface="Calibri"/>
              </a:rPr>
              <a:t>26 October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What the architecture is for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An officer builds a scheme query without writing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2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64592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Compose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Pick tables, join keys,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rules, and thresholds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in Query Builder.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291840" y="164592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Compile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The backend turns that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choice into parameterised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SQL. Values stay bound.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64592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Route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One plain external query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goes direct. Lakehouse,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fuzzy, and joins use Presto.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9144000" y="1645920"/>
            <a:ext cx="2743200" cy="2286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Protect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Scope hides other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geographies. Audit records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who ran the query.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97680"/>
            <a:ext cx="11155680" cy="18288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Example. A Jaipur officer fuzzy-matches a pension name to the lakehouse beneficiary table.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The product returns only Jaipur rows and writes an audit event for the run.</a:t>
            </a:r>
          </a:p>
          <a:p>
            <a:pPr algn="l">
              <a:spcAft>
                <a:spcPts val="400"/>
              </a:spcAft>
            </a:pPr>
            <a:r>
              <a:rPr sz="1600" b="0">
                <a:solidFill>
                  <a:srgbClr val="1A1A1A"/>
                </a:solidFill>
                <a:latin typeface="Calibri"/>
              </a:rPr>
              <a:t>Administrators attach databases. Officers never edit those connections.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Logical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Browser, frontend, and backend stay separate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3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280160" y="1554480"/>
            <a:ext cx="9601200" cy="123444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Browser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Session token stays in the browser. English and Hindi. Officer or admin screens.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2971800"/>
            <a:ext cx="9601200" cy="12344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Frontend  ·  Next.js 16 / React 19  ·  port 3000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Overview, Query Builder, Dashboard, and the admin workspace at /admin456.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280160" y="4389120"/>
            <a:ext cx="9601200" cy="123444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Backend  ·  Java 17 / Spring Boot 3.3  ·  port 8080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Compiles queries, checks the token, applies scope, chooses the database, streams results.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Two data planes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The application store and the query engine are different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4  /  10</a:t>
            </a:r>
          </a:p>
        </p:txBody>
      </p:sp>
      <p:pic>
        <p:nvPicPr>
          <p:cNvPr id="6" name="Picture 5" descr="overview_two_plan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040" y="1417320"/>
            <a:ext cx="667512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132320" y="1554480"/>
            <a:ext cx="4663440" cy="210312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Operational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PostgreSQL on port 5433.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Users, roles, scopes, audit,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saved queries, registrations.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JPA and Liquibase.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0" y="3840480"/>
            <a:ext cx="4663440" cy="219456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Analytical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PrestoDB 0.297 and Iceberg.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Lakehouse SQL.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Local stack also uses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Hive metastore and MinIO.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Connections and 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Two fixed engines, plus a list of department databases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5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44805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Connections  ·  always two cards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Operational holds the application itself.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 save is tested, then applied after restart.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Analytical is the Presto URL.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 save is tested and applied immediately.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jdbc:presto://host:8080 is enough.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Each table is catalog.schema.table.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532120" cy="44805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Data Sources  ·  Super Admin list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Add PostgreSQL or IBM DB2.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Test, browse, and register tables.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One plain query goes direct to that database.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 PostgreSQL source can take a Presto alias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so it can join the lakehouse.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DB2 stays on that one database.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How a query chooses its database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AnalysisExecutionRouter looks at the tables and the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6  /  10</a:t>
            </a:r>
          </a:p>
        </p:txBody>
      </p:sp>
      <p:pic>
        <p:nvPicPr>
          <p:cNvPr id="6" name="Picture 5" descr="overview_query_rou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320" y="1417320"/>
            <a:ext cx="6858000" cy="470916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223760" y="1554480"/>
            <a:ext cx="4572000" cy="2148840"/>
          </a:xfrm>
          <a:prstGeom prst="roundRect">
            <a:avLst>
              <a:gd name="adj" fmla="val 8000"/>
            </a:avLst>
          </a:prstGeom>
          <a:solidFill>
            <a:srgbClr val="E8F5E9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Direct JDBC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One registered external table.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Plain SQL, no fuzzy match.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Example: district filter on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Pension DB alone.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0" y="3886200"/>
            <a:ext cx="4572000" cy="219456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Presto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Lakehouse, fuzzy names, or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more than one source.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Each external source needs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 federation alias.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Sign-in and the request path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Local mode uses BCrypt and an eight-hour token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7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463040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280160" y="1463040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Sign in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BCrypt check. Five failures lock the account for 15 minutes.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2395728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280160" y="2395728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Token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HS256 JWT carries the user, roles, session version, and password-change flag.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3328416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280160" y="3328416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Scope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The officer’s geography is added to the SQL. No binding means no rows.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" y="4261104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280160" y="4261104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Stream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Rows stream to the screen. A disconnect cancels the running statement.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11480" y="5193792"/>
            <a:ext cx="640080" cy="640080"/>
          </a:xfrm>
          <a:prstGeom prst="roundRect">
            <a:avLst>
              <a:gd name="adj" fmla="val 8000"/>
            </a:avLst>
          </a:prstGeom>
          <a:solidFill>
            <a:srgbClr val="1E2761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ctr">
              <a:spcAft>
                <a:spcPts val="400"/>
              </a:spcAft>
            </a:pPr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280160" y="5193792"/>
            <a:ext cx="10424160" cy="82296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Audit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The event stores the action, outcome, query shape, and duration.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Who can reach which surface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The admin page requires the administrator authority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8  /  10</a:t>
            </a:r>
          </a:p>
        </p:txBody>
      </p:sp>
      <p:pic>
        <p:nvPicPr>
          <p:cNvPr id="6" name="Picture 5" descr="overview_role_menu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371600"/>
            <a:ext cx="6949440" cy="4754880"/>
          </a:xfrm>
          <a:prstGeom prst="rect">
            <a:avLst/>
          </a:prstGeom>
        </p:spPr>
      </p:pic>
      <p:sp>
        <p:nvSpPr>
          <p:cNvPr id="7" name="Rounded Rectangle 6"/>
          <p:cNvSpPr/>
          <p:nvPr/>
        </p:nvSpPr>
        <p:spPr>
          <a:xfrm>
            <a:off x="7315200" y="1508760"/>
            <a:ext cx="4480560" cy="45720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Role summary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Officer: Overview, Query Builder, Dashboard.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Admin: those screens plus users, scopes,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connections, registry, columns, backup,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and guardrails.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Super Admin: also Data Sources, OTP,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and the Audit Log.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/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Audit Reader alone: no Admin menu.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Architecture limits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What fails when a plane or a connector is missing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9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554480"/>
            <a:ext cx="5669280" cy="2057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Presto down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Lakehouse, fuzzy, and cross-source queries fail. The Analytical card shows the SELECT 1 error.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63640" y="1554480"/>
            <a:ext cx="5669280" cy="20574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No DB2 connector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 DB2 data source answers one database only. It cannot join the lakehouse.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3840480"/>
            <a:ext cx="5669280" cy="20574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Dormant types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Oracle, MySQL, MariaDB, and SQL Server are defined and refused on create.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3840480"/>
            <a:ext cx="5669280" cy="20574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Audit Reader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Audit-read authority does not open the admin page by itself.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60120"/>
          </a:xfrm>
          <a:prstGeom prst="rect">
            <a:avLst/>
          </a:prstGeom>
          <a:solidFill>
            <a:srgbClr val="1E27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2800" b="1">
                <a:solidFill>
                  <a:srgbClr val="FFFFFF"/>
                </a:solidFill>
                <a:latin typeface="Calibri"/>
              </a:rPr>
              <a:t>Plan for the architecture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60120"/>
            <a:ext cx="12191695" cy="347472"/>
          </a:xfrm>
          <a:prstGeom prst="rect">
            <a:avLst/>
          </a:prstGeom>
          <a:solidFill>
            <a:srgbClr val="E8EE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11480" tIns="73152" bIns="54864" wrap="square"/>
          <a:lstStyle/>
          <a:p>
            <a:pPr algn="l">
              <a:spcAft>
                <a:spcPts val="400"/>
              </a:spcAft>
            </a:pPr>
            <a:r>
              <a:rPr sz="1300" b="0">
                <a:solidFill>
                  <a:srgbClr val="1E2761"/>
                </a:solidFill>
                <a:latin typeface="Calibri"/>
              </a:rPr>
              <a:t>Recommended order. This deck does not change the product.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6537960"/>
            <a:ext cx="96012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Analytics Advisor  ·  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607040" y="6537960"/>
            <a:ext cx="118872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400"/>
              </a:spcAft>
            </a:pPr>
            <a:r>
              <a:rPr sz="1100" b="0">
                <a:solidFill>
                  <a:srgbClr val="444444"/>
                </a:solidFill>
                <a:latin typeface="Calibri"/>
              </a:rPr>
              <a:t>10  /  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50876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CADCFC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Phase 1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Bring up Presto with MinIO and the Hive metastore. Say clearly when the analytical engine is down.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3063239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E8EEF7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Phase 2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Enable Oracle on Data Sources, pool external JDBC, and let an Audit Reader open the Audit Log.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4617720"/>
            <a:ext cx="11338560" cy="1371600"/>
          </a:xfrm>
          <a:prstGeom prst="roundRect">
            <a:avLst>
              <a:gd name="adj" fmla="val 8000"/>
            </a:avLst>
          </a:prstGeom>
          <a:solidFill>
            <a:srgbClr val="FFF4E5"/>
          </a:solidFill>
          <a:ln w="15875"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bIns="54864"/>
          <a:lstStyle/>
          <a:p>
            <a:pPr algn="l"/>
            <a:r>
              <a:rPr sz="1500" b="1">
                <a:solidFill>
                  <a:srgbClr val="1E2761"/>
                </a:solidFill>
                <a:latin typeface="Calibri"/>
              </a:rPr>
              <a:t>Phase 3</a:t>
            </a:r>
          </a:p>
          <a:p>
            <a:pPr>
              <a:spcBef>
                <a:spcPts val="300"/>
              </a:spcBef>
            </a:pPr>
            <a:r>
              <a:rPr sz="1300" b="0">
                <a:solidFill>
                  <a:srgbClr val="1A1A1A"/>
                </a:solidFill>
                <a:latin typeface="Calibri"/>
              </a:rPr>
              <a:t>Finish RajSewadwar sign-in, explain lockout, and stop repeating full queries for fan-out and comparisons.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